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-954" y="-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FAE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548640" cy="4572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CONTENT MARKETING</a:t>
            </a:r>
          </a:p>
          <a:p>
            <a:pPr algn="l">
              <a:lnSpc>
                <a:spcPct val="140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PROGRESS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32004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spc="-20" dirty="0">
                <a:solidFill>
                  <a:srgbClr val="262626"/>
                </a:solidFill>
                <a:latin typeface="Gmarket Sans"/>
              </a:rPr>
              <a:t>CAFE
SUZAK.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3200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300">
                <a:solidFill>
                  <a:srgbClr val="555555"/>
                </a:solidFill>
                <a:latin typeface="Gmarket Sans"/>
              </a:rPr>
              <a:t>Sejong · Jochiwon · Roastery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0058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spc="200">
                <a:solidFill>
                  <a:srgbClr val="555555"/>
                </a:solidFill>
                <a:latin typeface="Gmarket Sans"/>
              </a:rPr>
              <a:t>세종충정지역 영세기업 AI 콘텐츠 마케팅 산학협력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463040"/>
            <a:ext cx="7040880" cy="23774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600" b="1" spc="-20" dirty="0" err="1">
                <a:solidFill>
                  <a:srgbClr val="262626"/>
                </a:solidFill>
                <a:latin typeface="Gmarket Sans"/>
              </a:rPr>
              <a:t>조용히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3600" b="1" spc="-20" dirty="0" err="1">
                <a:solidFill>
                  <a:srgbClr val="262626"/>
                </a:solidFill>
                <a:latin typeface="Gmarket Sans"/>
              </a:rPr>
              <a:t>쌓아온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3600" b="1" spc="-20" dirty="0" err="1">
                <a:solidFill>
                  <a:srgbClr val="262626"/>
                </a:solidFill>
                <a:latin typeface="Gmarket Sans"/>
              </a:rPr>
              <a:t>가치를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,
</a:t>
            </a:r>
            <a:r>
              <a:rPr sz="3600" b="1" spc="-20" dirty="0" err="1">
                <a:solidFill>
                  <a:srgbClr val="262626"/>
                </a:solidFill>
                <a:latin typeface="Gmarket Sans"/>
              </a:rPr>
              <a:t>새로운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3600" b="1" spc="-20" dirty="0" err="1">
                <a:solidFill>
                  <a:srgbClr val="262626"/>
                </a:solidFill>
                <a:latin typeface="Gmarket Sans"/>
              </a:rPr>
              <a:t>채널로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3600" b="1" spc="-20" dirty="0" err="1">
                <a:solidFill>
                  <a:srgbClr val="DC143C"/>
                </a:solidFill>
                <a:latin typeface="Gmarket Sans"/>
              </a:rPr>
              <a:t>닿다</a:t>
            </a:r>
            <a:r>
              <a:rPr sz="3600" b="1" spc="-20" dirty="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3931920"/>
            <a:ext cx="68580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spc="100">
                <a:solidFill>
                  <a:srgbClr val="262626"/>
                </a:solidFill>
                <a:latin typeface="Gmarket Sans"/>
              </a:rPr>
              <a:t>카페수작 · Content Marketing Mid-term Report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434840"/>
            <a:ext cx="6858000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0" y="46177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CLIENT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484632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262626"/>
                </a:solidFill>
                <a:latin typeface="Gmarket Sans"/>
              </a:rPr>
              <a:t>카페수작 (CAFE SUZAK) · 세종 조치원읍 원마루길 28-1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53492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PROJECT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57784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262626"/>
                </a:solidFill>
                <a:latin typeface="Gmarket Sans"/>
              </a:rPr>
              <a:t>AI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콘텐츠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기반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다채널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마케팅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캠페인</a:t>
            </a:r>
            <a:endParaRPr sz="1100" b="0" dirty="0">
              <a:solidFill>
                <a:srgbClr val="262626"/>
              </a:solidFill>
              <a:latin typeface="Gmarket San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60807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999999"/>
                </a:solidFill>
                <a:latin typeface="Gmarket Sans"/>
              </a:rPr>
              <a:t>AUTHOR  ·  DATE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6309360"/>
            <a:ext cx="6858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dirty="0" err="1">
                <a:solidFill>
                  <a:srgbClr val="262626"/>
                </a:solidFill>
                <a:latin typeface="Gmarket Sans"/>
              </a:rPr>
              <a:t>글로벌경영학과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2022390786 </a:t>
            </a:r>
            <a:r>
              <a:rPr sz="1100" b="0" dirty="0" err="1">
                <a:solidFill>
                  <a:srgbClr val="262626"/>
                </a:solidFill>
                <a:latin typeface="Gmarket Sans"/>
              </a:rPr>
              <a:t>안혜빈</a:t>
            </a:r>
            <a:r>
              <a:rPr sz="1100" b="0" dirty="0">
                <a:solidFill>
                  <a:srgbClr val="262626"/>
                </a:solidFill>
                <a:latin typeface="Gmarket Sans"/>
              </a:rPr>
              <a:t>  ·  2026.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INDEX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188720"/>
            <a:ext cx="73152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400">
                <a:solidFill>
                  <a:srgbClr val="DC143C"/>
                </a:solidFill>
                <a:latin typeface="Gmarket Sans"/>
              </a:rPr>
              <a:t>INDEX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554480"/>
            <a:ext cx="91440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이 보고서는 어떻게 카페수작의 가치를
새로운 채널에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닿게 했는지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 정리합니다.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62026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dirty="0" err="1">
                <a:solidFill>
                  <a:srgbClr val="262626"/>
                </a:solidFill>
                <a:latin typeface="Gmarket Sans"/>
              </a:rPr>
              <a:t>프로젝트</a:t>
            </a:r>
            <a:r>
              <a:rPr sz="1500" b="1" dirty="0">
                <a:solidFill>
                  <a:srgbClr val="262626"/>
                </a:solidFill>
                <a:latin typeface="Gmarket Sans"/>
              </a:rPr>
              <a:t> </a:t>
            </a:r>
            <a:r>
              <a:rPr sz="1500" b="1" dirty="0" err="1">
                <a:solidFill>
                  <a:srgbClr val="262626"/>
                </a:solidFill>
                <a:latin typeface="Gmarket Sans"/>
              </a:rPr>
              <a:t>배경</a:t>
            </a:r>
            <a:endParaRPr sz="1500" b="1" dirty="0">
              <a:solidFill>
                <a:srgbClr val="262626"/>
              </a:solidFill>
              <a:latin typeface="Gmarket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188720" y="3931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Project Background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4251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8640" y="41148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096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문제 정의 — 가치 vs 인지도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3891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The Paradox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48640" y="47091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8640" y="45720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4553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타겟 고객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8463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Target Audience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51663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50292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109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마케팅 전략 개요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303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Strategy Overview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6235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4864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5468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AI 활용 제작 프로세스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760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AI-Driven Process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60807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48640" y="5943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925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웹페이지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" y="6217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Webpage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548640" y="6537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400800" y="3657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3639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블로그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40880" y="3931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Blog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400800" y="4251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00800" y="41148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0965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인스타그램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43891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Instagram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00800" y="47091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6400800" y="45720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09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5537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산출물 · 에브리타임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8463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Output · Everytime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6400800" y="51663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6400800" y="50292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40880" y="50109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유통 채널 전략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040880" y="53035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Channel Strategy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00800" y="56235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400800" y="54864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11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40880" y="54681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성과 측정 프레임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40880" y="57607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Performance Framework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6400800" y="60807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6400800" y="5943600"/>
            <a:ext cx="548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12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40880" y="592531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향후 계획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040880" y="6217920"/>
            <a:ext cx="45720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Next Step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6400800" y="6537960"/>
            <a:ext cx="5029200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INDEX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PROJECT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진짜 커피를 아는 사람들이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결국 찾는 곳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,
카페 수작.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108960"/>
            <a:ext cx="68580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세종 조치원의 작은 골목, 원마루길 28-1.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10년 경력 마스터가 매일 매장에서 직접 원두를 볶고,</a:t>
            </a:r>
          </a:p>
          <a:p>
            <a:pPr algn="l">
              <a:lnSpc>
                <a:spcPct val="170000"/>
              </a:lnSpc>
            </a:pPr>
            <a:r>
              <a:rPr sz="1300" b="0">
                <a:solidFill>
                  <a:srgbClr val="555555"/>
                </a:solidFill>
                <a:latin typeface="Gmarket Sans"/>
              </a:rPr>
              <a:t>시럽·소스·디저트까지 100% 손으로 만드는 로스터리 카페입니다.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800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HANDMADE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749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100% 수작업의 철학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577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생두 직접 구매 · 매장 로스팅 · 시럽/소스 수제 · 파스타/리조또까지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79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297679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1999" y="4800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MASTERY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50749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10년 경력 마스터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5577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본질에 집착하는 결과물 · 단순 카페가 아닌 완성도 높은 커피 경험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19" y="4572000"/>
            <a:ext cx="3657600" cy="1691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46719" y="4572000"/>
            <a:ext cx="45720" cy="169164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321039" y="4800600"/>
            <a:ext cx="3291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EXPERIENCE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39" y="5074920"/>
            <a:ext cx="32918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낮엔 카페, 밤엔 바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5577840"/>
            <a:ext cx="32918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아메리카노부터 모히또까지 · 22시까지 운영 · 조치원의 작은 아지트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PROJECT BACKGROUND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THE PARADOX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가치는 충분하지만,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전달되지 않습니다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이미 완성된 명작이지만, 디지털 영역에서는 그 가치가 표현되지 못해 신규 고객 유입이 정체되어 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840480"/>
            <a:ext cx="5394960" cy="23774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4023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PERCEIVED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97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가벼운 인지도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8006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간판이 잘 보이지 않아 지나치기 쉬운 위치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테이크아웃·운영 정보 등 기본 정보 부재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·  체계적인 홍보 경험이 거의 없음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3840480"/>
            <a:ext cx="5394960" cy="23774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INTRINSIC VALUE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29768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>
                <a:solidFill>
                  <a:srgbClr val="FFFFFF"/>
                </a:solidFill>
                <a:latin typeface="Gmarket Sans"/>
              </a:rPr>
              <a:t>본질적 경쟁력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800600"/>
            <a:ext cx="484632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약 10년의 탄탄한 업력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세종시 최고 수준이라 자부하는 직접 로스팅 커피</a:t>
            </a:r>
          </a:p>
          <a:p>
            <a:pPr algn="l">
              <a:lnSpc>
                <a:spcPct val="185000"/>
              </a:lnSpc>
            </a:pPr>
            <a:r>
              <a:rPr sz="1200" b="0">
                <a:solidFill>
                  <a:srgbClr val="FFFFFF"/>
                </a:solidFill>
                <a:latin typeface="Gmarket Sans"/>
              </a:rPr>
              <a:t>·  제빵 자격증 · 파스타/소스까지 직접 만드는 요리 역량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THE PARADOX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TARGET AUDIENCE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누구에게 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우리의 가치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를 전달할 것인가?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864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01  PRIMARY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PRIMARY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고려대 및 인근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대학생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463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주 고객층이자 잠재적 바이럴의 핵심 진원지.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조치원 내 학생 커뮤니티가 좁고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구전 효과가 크게 작용하는 지역.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8912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38912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63440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02  BEHAVIORAL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703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BEHAVIORAL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카공족 &amp;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장기 체류자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8463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조용한 환경과 사장님의 배려(터치 없음),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넓은 좌석 간격으로 인해 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장시간 공부하기 편한 공간을 찾는 고객.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66344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29600" y="3017520"/>
            <a:ext cx="36576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5E5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8229600" y="3017520"/>
            <a:ext cx="3657600" cy="45720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503920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FAE7CB"/>
                </a:solidFill>
                <a:latin typeface="Gmarket Sans"/>
              </a:rPr>
              <a:t>03  LOYALTY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37033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LOYALTY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3977640"/>
            <a:ext cx="310896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졸업생 &amp;</a:t>
            </a:r>
          </a:p>
          <a:p>
            <a:pPr algn="l">
              <a:lnSpc>
                <a:spcPct val="120000"/>
              </a:lnSpc>
            </a:pPr>
            <a:r>
              <a:rPr sz="1800" b="1">
                <a:solidFill>
                  <a:srgbClr val="262626"/>
                </a:solidFill>
                <a:latin typeface="Gmarket Sans"/>
              </a:rPr>
              <a:t>지인 추천 방문객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3920" y="4846320"/>
            <a:ext cx="31089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오직 '커피 맛' 하나로 재방문하는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두터운 충성도를 가진 그룹.</a:t>
            </a:r>
          </a:p>
          <a:p>
            <a:pPr algn="l">
              <a:lnSpc>
                <a:spcPct val="17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선배–후배 추천 사이클의 시작점.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03920" y="4709160"/>
            <a:ext cx="457200" cy="18288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" name="Connector 29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TARGET AUDIENCE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STRATEGY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맛으로 승부하는 시대는 끝났습니다.
이제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경험을 증명하고 전파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해야 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6576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STRATEGIC PILLARS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977639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장인정신 스토리텔링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07492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로스팅 과정·메뉴 비하인드·공간 분위기를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에디토리얼 톤으로 풀어 전문성과 정성을 전달.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42062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4572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목적형 검색 타겟팅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507492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'조치원 카페수작', '핸드드립', '카공 카페' 등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검색 의도가 명확한 키워드로 신뢰형 유입 확보.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206240"/>
            <a:ext cx="3566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 · 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4572000"/>
            <a:ext cx="35661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AI 콘텐츠 자산화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5074920"/>
            <a:ext cx="35661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Claude + VSCode로 웹페이지·블로그·SNS를</a:t>
            </a:r>
          </a:p>
          <a:p>
            <a:pPr algn="l">
              <a:lnSpc>
                <a:spcPct val="16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빠르게 제작·반복 개선, 가성비 높은 자산으로 축적.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STRATEGY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AI-DRIVEN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200" b="1" spc="-20">
                <a:solidFill>
                  <a:srgbClr val="262626"/>
                </a:solidFill>
                <a:latin typeface="Gmarket Sans"/>
              </a:rPr>
              <a:t>Claude Code + VS Code로
</a:t>
            </a:r>
            <a:r>
              <a:rPr sz="3200" b="1" spc="-20">
                <a:solidFill>
                  <a:srgbClr val="DC143C"/>
                </a:solidFill>
                <a:latin typeface="Gmarket Sans"/>
              </a:rPr>
              <a:t>아이디어를 실제 자산으로</a:t>
            </a:r>
            <a:r>
              <a:rPr sz="32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TOOLSTACK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70332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" y="4160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Claude Code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AI CO-WORKER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프롬프트로 코드·카피·디자인 톤·문서를 즉시 생성.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반복 수정에 강해 빠른 디자인 이터레이션 가능.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9768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0" y="4160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VS Code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4572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코드 결과물 확인·미세 조정·로컬 프리뷰.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실시간 미리보기로 톤·반응형 검수 진행.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3566160" cy="201168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21040" y="416052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262626"/>
                </a:solidFill>
                <a:latin typeface="Gmarket Sans"/>
              </a:rPr>
              <a:t>Netlify Drop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4572000"/>
            <a:ext cx="30175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DEPLOY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4892040"/>
            <a:ext cx="3017520" cy="1005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별도 계정 없이 폴더 드래그만으로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공개 URL 즉시 발급. 모바일 테스트 즉시 가능.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0807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spc="100">
                <a:solidFill>
                  <a:srgbClr val="555555"/>
                </a:solidFill>
                <a:latin typeface="Gmarket Sans"/>
              </a:rPr>
              <a:t>PROMPT → ITERATE → DEPLOY  ·  약 15+ 차례 반복 수정으로 콘셉트·톤·기능을 점진적으로 다듬어 완성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AI-DRIVEN PROCESS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WEBPAGE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"오늘 카페수작에서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뭐 마실까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?"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기분과 날씨에 맞춰 카페수작의 메뉴를 추천해주는 인터랙티브 랜딩페이지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11091672" cy="5029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320040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LIVE URL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200400"/>
            <a:ext cx="9144000" cy="1928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200" b="1" dirty="0" smtClean="0">
                <a:solidFill>
                  <a:srgbClr val="FFFFFF"/>
                </a:solidFill>
                <a:latin typeface="Gmarket Sans"/>
              </a:rPr>
              <a:t>https://</a:t>
            </a:r>
            <a:r>
              <a:rPr lang="en-US" sz="1200" b="1" dirty="0">
                <a:solidFill>
                  <a:srgbClr val="FFFFFF"/>
                </a:solidFill>
                <a:latin typeface="Gmarket Sans"/>
              </a:rPr>
              <a:t>cafesuzak.netlify.app</a:t>
            </a:r>
            <a:endParaRPr sz="1200" b="1" dirty="0">
              <a:solidFill>
                <a:srgbClr val="FFFFFF"/>
              </a:solidFill>
              <a:latin typeface="Gmarket San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48640" y="38404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KEY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실시간 날씨 추천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120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Open-Meteo API로 조치원 + 사용자 위치 동시 표시. 기온·강수 기반 자동 코멘트.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4389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기분 10종 메뉴 추천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83280" y="5120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잠깨야해·카공·단거·하루마무리 등 10가지 기분별 메뉴 3종 자동 매칭.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4389120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70916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실시간 영업 상태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20640"/>
            <a:ext cx="27432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한국시간 기준 영업/휴무 자동 판별. 토요일 휴무·라스트오더 30분 전 안내.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4389120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F · 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4709160"/>
            <a:ext cx="2560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반응형 디자인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5120640"/>
            <a:ext cx="256032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데스크탑·태블릿·모바일 자동 대응. WatchHouse·Hola Coffee 톤 에디토리얼 무드.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WEBPAGE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BLOG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전체적으로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"수작이라는 카페"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를
소개하는 마케팅 블로그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461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5204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네이버 블로그 (Naver Blog)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88620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한국 검색 점유율 압도적 · 장문 + 이미지 콘텐츠에 가장 적합한 환경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TONE &amp; ANGLE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방문 경험 기반 1인칭 친근체로 작성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카페수작의 전반적인 소개 (위치·메뉴·분위기·시그니처)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글 마지막에 "여러분도 방문해보세요" CTA + 웹페이지 링크 자연 연결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00400"/>
            <a:ext cx="4343400" cy="30175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38328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SAMPLE  ·  최근 발행 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03320"/>
            <a:ext cx="3886200" cy="11887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오늘 날씨엔 뭐 마시지?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조치원 카페수작에서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기분별로 골라본 6잔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12064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525780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약 3,000자 / 읽는 시간 5분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6가지 기분 시나리오 + 메뉴 매칭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마지막에 웹페이지 링크 임베드</a:t>
            </a:r>
          </a:p>
          <a:p>
            <a:pPr algn="l">
              <a:lnSpc>
                <a:spcPct val="17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해시태그 16개 (조치원 SEO 위주)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BLOG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INSTAGRAM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지인과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근거리 거주자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를 향한
개인 계정 기반 자연 확산.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8328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  ·  TARGET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개인 인스타그램 (Personal IG)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69080"/>
            <a:ext cx="64008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지인 + 조치원·세종 근거리 거주자 / 학생 네트워크 1차 확산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98348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본 광고가 아닌 "내가 좋아하는 카페" 톤의 자연스러운 추천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지인 도달률이 높은 IG 특성을 활용한 신뢰 기반 확산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릴스 포맷으로 짧고 강한 비주얼 메시지 전달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91840"/>
            <a:ext cx="4343400" cy="301752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47472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DELIVERABLES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94760"/>
            <a:ext cx="3886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spc="-30">
                <a:solidFill>
                  <a:srgbClr val="FAE7CB"/>
                </a:solidFill>
                <a:latin typeface="Gmarket Sans"/>
              </a:rPr>
              <a:t>03</a:t>
            </a:r>
          </a:p>
          <a:p>
            <a:pPr algn="l">
              <a:lnSpc>
                <a:spcPct val="100000"/>
              </a:lnSpc>
            </a:pPr>
            <a:r>
              <a:rPr sz="1200" b="1" spc="200">
                <a:solidFill>
                  <a:srgbClr val="FFFFFF"/>
                </a:solidFill>
                <a:latin typeface="Gmarket Sans"/>
              </a:rPr>
              <a:t>Reels Uploaded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539496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5532120"/>
            <a:ext cx="38862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1000" b="0">
                <a:solidFill>
                  <a:srgbClr val="FFFFFF"/>
                </a:solidFill>
                <a:latin typeface="Gmarket Sans"/>
              </a:rPr>
              <a:t>카페 분위기 · 메뉴 클로즈업 · 핸드드립 과정</a:t>
            </a:r>
          </a:p>
          <a:p>
            <a:pPr algn="l">
              <a:lnSpc>
                <a:spcPct val="170000"/>
              </a:lnSpc>
            </a:pPr>
            <a:r>
              <a:rPr sz="1000" b="0">
                <a:solidFill>
                  <a:srgbClr val="FFFFFF"/>
                </a:solidFill>
                <a:latin typeface="Gmarket Sans"/>
              </a:rPr>
              <a:t>각 릴스는 30초 내외, 음악·자막으로 몰입감 강화.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INSTAGRAM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OUTPUT · EVERYTIME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학생들이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거의 매일 여는 앱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,
에브리타임을 마케팅 자산화.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3756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PLATFORM  · 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1188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262626"/>
                </a:solidFill>
                <a:latin typeface="Gmarket Sans"/>
              </a:rPr>
              <a:t>에브리타임 (Everytime · 대학 커뮤니티)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02336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수업·시간표·게시판이 통합된 학생 일상 앱.</a:t>
            </a:r>
          </a:p>
          <a:p>
            <a:pPr algn="l">
              <a:lnSpc>
                <a:spcPct val="150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수업이 있는 날에는 거의 매일 접속해 도달률·관여도가 압도적.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64008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STRATEGY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5120640"/>
            <a:ext cx="64008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학교 인근 카페라는 강한 지리적 연결성을 부각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광고 톤이 아닌 "실제 학생 후기" 형태로 자연스럽게 게시</a:t>
            </a:r>
          </a:p>
          <a:p>
            <a:pPr algn="l">
              <a:lnSpc>
                <a:spcPct val="18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 카공·시험 기간·데이트 등 학생 컨텍스트에 메뉴 추천 매칭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3291840"/>
            <a:ext cx="4343400" cy="30175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635240" y="3474720"/>
            <a:ext cx="3886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WHY EVERYTIME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35240" y="3794760"/>
            <a:ext cx="38862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학생 일상 동선의 정중앙.</a:t>
            </a:r>
          </a:p>
          <a:p>
            <a:pPr algn="l">
              <a:lnSpc>
                <a:spcPct val="12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광고비 0원, 도달은 최대.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35240" y="493776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635240" y="5074920"/>
            <a:ext cx="38862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게시판은 학생들의 정보 의존도가 높음</a:t>
            </a:r>
          </a:p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'학교 근처 카공 카페' 검색 트래픽 발생</a:t>
            </a:r>
          </a:p>
          <a:p>
            <a:pPr algn="l">
              <a:lnSpc>
                <a:spcPct val="185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· 추천 후기 댓글이 자연 바이럴로 작동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OUTPUT · EVERYTIME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10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CHANNEL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세 개의 채널,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세 가지 역할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555555"/>
                </a:solidFill>
                <a:latin typeface="Gmarket Sans"/>
              </a:rPr>
              <a:t>각 채널의 강점이 다르므로 콘텐츠 톤과 목표를 분리해 운영합니다.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11091672" cy="41148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31520" y="3364992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CHANNEL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3364992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ROLE  ·  목적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336499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AUDIENCE  ·  타겟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79" y="3364992"/>
            <a:ext cx="3474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300">
                <a:solidFill>
                  <a:srgbClr val="FAE7CB"/>
                </a:solidFill>
                <a:latin typeface="Gmarket Sans"/>
              </a:rPr>
              <a:t>CONTENT  ·  콘텐츠 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703320"/>
            <a:ext cx="11091672" cy="9601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31520" y="384048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06908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네이버 블로그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6168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NAVER BLOG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397764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검색 유입 + 신뢰 구축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9240" y="397764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조치원·카페 검색 의도가 있는 일반 사용자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83879" y="397764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장문 1인칭 후기 · 카페 전반 소개 · 마케팅 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07492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에브리타임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6752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EVERYTIME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34640" y="498348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학생 도달 + 학내 바이럴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49240" y="498348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고려대·홍익대 세종캠퍼스 재학생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79" y="498348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광고 톤 X · 실사용자 후기 톤 · 학생 컨텍스트 매칭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715000"/>
            <a:ext cx="11091672" cy="96012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31520" y="5852160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200">
                <a:solidFill>
                  <a:srgbClr val="DC143C"/>
                </a:solidFill>
                <a:latin typeface="Gmarket Sans"/>
              </a:rPr>
              <a:t>03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6080760"/>
            <a:ext cx="2011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262626"/>
                </a:solidFill>
                <a:latin typeface="Gmarket Sans"/>
              </a:rPr>
              <a:t>인스타그램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6373368"/>
            <a:ext cx="20116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INSTAGRAM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34640" y="5989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지인·근거리 자연 확산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49240" y="5989320"/>
            <a:ext cx="2743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본인 지인 + 조치원 근거리 거주자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5989320"/>
            <a:ext cx="347472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000" b="0">
                <a:solidFill>
                  <a:srgbClr val="555555"/>
                </a:solidFill>
                <a:latin typeface="Gmarket Sans"/>
              </a:rPr>
              <a:t>릴스 중심 · 비주얼 강조 · 일상 톤 큐레이션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CHANNEL STRATEGY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PERFORMANCE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800" b="1" spc="-20">
                <a:solidFill>
                  <a:srgbClr val="262626"/>
                </a:solidFill>
                <a:latin typeface="Gmarket Sans"/>
              </a:rPr>
              <a:t>플랫폼·콘텐츠 </a:t>
            </a:r>
            <a:r>
              <a:rPr sz="2800" b="1" spc="-20">
                <a:solidFill>
                  <a:srgbClr val="DC143C"/>
                </a:solidFill>
                <a:latin typeface="Gmarket Sans"/>
              </a:rPr>
              <a:t>총합으로 측정</a:t>
            </a:r>
            <a:r>
              <a:rPr sz="2800" b="1" spc="-20">
                <a:solidFill>
                  <a:srgbClr val="262626"/>
                </a:solidFill>
                <a:latin typeface="Gmarket Sans"/>
              </a:rPr>
              <a:t>합니다.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DC143C"/>
                </a:solidFill>
                <a:latin typeface="Gmarket Sans"/>
              </a:rPr>
              <a:t>KPI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337560"/>
            <a:ext cx="11091672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35661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TOTAL OUTPUTS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릴스 3 + 블로그 2 + 웹페이지 1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(추가 콘텐츠 제작 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5661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PLATFORMS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08960" y="4846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네이버 블로그 · 에브리타임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인스타그램 · 웹(독립 도메인)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3566160"/>
            <a:ext cx="237744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0" y="45720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METRICS TRACKED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4846320"/>
            <a:ext cx="23774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조회수 · 좋아요 · 댓글 수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공유 수 · 체류시간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3566160"/>
            <a:ext cx="338328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spc="-30">
                <a:solidFill>
                  <a:srgbClr val="262626"/>
                </a:solidFill>
                <a:latin typeface="Gmarket Sans"/>
              </a:rPr>
              <a:t>TBD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572000"/>
            <a:ext cx="33832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DC143C"/>
                </a:solidFill>
                <a:latin typeface="Gmarket Sans"/>
              </a:rPr>
              <a:t>AGGREGATED SCORE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46320"/>
            <a:ext cx="33832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현재 집계 진행 중 · 채널별 수치 통합 후 합산.</a:t>
            </a:r>
          </a:p>
          <a:p>
            <a:pPr algn="l">
              <a:lnSpc>
                <a:spcPct val="155000"/>
              </a:lnSpc>
            </a:pPr>
            <a:r>
              <a:rPr sz="900" b="0">
                <a:solidFill>
                  <a:srgbClr val="555555"/>
                </a:solidFill>
                <a:latin typeface="Gmarket Sans"/>
              </a:rPr>
              <a:t>수치 부진 시 원인 분석 + 대책 별도 정리.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5943600"/>
            <a:ext cx="11091672" cy="5486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6053328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262626"/>
                </a:solidFill>
                <a:latin typeface="Gmarket Sans"/>
              </a:rPr>
              <a:t>성과는 단일 지표가 아닌 "콘텐츠 수 × 플랫폼 수 × 반응(좋아요·조회·공유·댓글)"의 총합으로 평가합니다.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48640" y="653796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글로벌경영학과  2022390786  안혜빈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PERFORMANCE FRAMEWORK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"/>
            <a:ext cx="6400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 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41148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2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48640" y="713232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48640" y="1005840"/>
            <a:ext cx="1828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300">
                <a:solidFill>
                  <a:srgbClr val="DC143C"/>
                </a:solidFill>
                <a:latin typeface="Gmarket Sans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spc="-20">
                <a:solidFill>
                  <a:srgbClr val="262626"/>
                </a:solidFill>
                <a:latin typeface="Gmarket Sans"/>
              </a:rPr>
              <a:t>As-Is에서 </a:t>
            </a:r>
            <a:r>
              <a:rPr sz="3000" b="1" spc="-20">
                <a:solidFill>
                  <a:srgbClr val="DC143C"/>
                </a:solidFill>
                <a:latin typeface="Gmarket Sans"/>
              </a:rPr>
              <a:t>To-Be</a:t>
            </a:r>
            <a:r>
              <a:rPr sz="3000" b="1" spc="-20">
                <a:solidFill>
                  <a:srgbClr val="262626"/>
                </a:solidFill>
                <a:latin typeface="Gmarket Sans"/>
              </a:rPr>
              <a:t>로, 다음 단계.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017520"/>
            <a:ext cx="5394960" cy="3291840"/>
          </a:xfrm>
          <a:prstGeom prst="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DC143C"/>
                </a:solidFill>
                <a:latin typeface="Gmarket Sans"/>
              </a:rPr>
              <a:t>AS-IS · 현재 위치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204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262626"/>
                </a:solidFill>
                <a:latin typeface="Gmarket Sans"/>
              </a:rPr>
              <a:t>콘텐츠 자산 6종 · 채널 4종 확보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406908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인터랙티브 웹페이지 1종 배포 완료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블로그·릴스·에브리타임 채널 운영 시작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AI 활용 콘텐츠 제작 워크플로 정립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555555"/>
                </a:solidFill>
                <a:latin typeface="Gmarket Sans"/>
              </a:rPr>
              <a:t>· 성과 지표 정의 및 측정 시작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3017520"/>
            <a:ext cx="5394960" cy="3291840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629400" y="3200400"/>
            <a:ext cx="48463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spc="300">
                <a:solidFill>
                  <a:srgbClr val="FAE7CB"/>
                </a:solidFill>
                <a:latin typeface="Gmarket Sans"/>
              </a:rPr>
              <a:t>TO-BE · 다음 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520440"/>
            <a:ext cx="4846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FFFFFF"/>
                </a:solidFill>
                <a:latin typeface="Gmarket Sans"/>
              </a:rPr>
              <a:t>측정 기반 채널 최적화 + 자산 확장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4069080"/>
            <a:ext cx="457200" cy="27432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4206240"/>
            <a:ext cx="484632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채널별 KPI 수치 집계 → 강한 채널 더블다운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부진 채널은 톤·키워드·포스팅 시간 개선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콘텐츠 자산 추가 제작 (릴스·블로그 시리즈)</a:t>
            </a:r>
          </a:p>
          <a:p>
            <a:pPr algn="l">
              <a:lnSpc>
                <a:spcPct val="195000"/>
              </a:lnSpc>
            </a:pPr>
            <a:r>
              <a:rPr sz="1100" b="0">
                <a:solidFill>
                  <a:srgbClr val="FFFFFF"/>
                </a:solidFill>
                <a:latin typeface="Gmarket Sans"/>
              </a:rPr>
              <a:t>· 카페 본 계정으로 콘텐츠 이관 / 위탁 운영 검토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92240"/>
            <a:ext cx="11094415" cy="0"/>
          </a:xfrm>
          <a:prstGeom prst="line">
            <a:avLst/>
          </a:prstGeom>
          <a:ln w="6350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57010"/>
            <a:ext cx="54864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spc="200" dirty="0" err="1">
                <a:solidFill>
                  <a:srgbClr val="999999"/>
                </a:solidFill>
                <a:latin typeface="Gmarket Sans"/>
              </a:rPr>
              <a:t>글로벌경영학과</a:t>
            </a:r>
            <a:r>
              <a:rPr sz="800" b="0" spc="200" dirty="0">
                <a:solidFill>
                  <a:srgbClr val="999999"/>
                </a:solidFill>
                <a:latin typeface="Gmarket Sans"/>
              </a:rPr>
              <a:t>  2022390786  </a:t>
            </a:r>
            <a:r>
              <a:rPr sz="800" b="0" spc="200" dirty="0" err="1">
                <a:solidFill>
                  <a:srgbClr val="999999"/>
                </a:solidFill>
                <a:latin typeface="Gmarket Sans"/>
              </a:rPr>
              <a:t>안혜빈</a:t>
            </a:r>
            <a:endParaRPr sz="800" b="0" spc="200" dirty="0">
              <a:solidFill>
                <a:srgbClr val="999999"/>
              </a:solidFill>
              <a:latin typeface="Gmarket San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6537960"/>
            <a:ext cx="52120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spc="200">
                <a:solidFill>
                  <a:srgbClr val="999999"/>
                </a:solidFill>
                <a:latin typeface="Gmarket Sans"/>
              </a:rPr>
              <a:t>NEXT STEP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E7C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31520" y="822960"/>
            <a:ext cx="548640" cy="45720"/>
          </a:xfrm>
          <a:prstGeom prst="rect">
            <a:avLst/>
          </a:prstGeom>
          <a:solidFill>
            <a:srgbClr val="DC14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515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spc="400">
                <a:solidFill>
                  <a:srgbClr val="262626"/>
                </a:solidFill>
                <a:latin typeface="Gmarket Sans"/>
              </a:rPr>
              <a:t>CLOSING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051560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4000" b="1" spc="-20">
                <a:solidFill>
                  <a:srgbClr val="262626"/>
                </a:solidFill>
                <a:latin typeface="Gmarket Sans"/>
              </a:rPr>
              <a:t>"좋은 커피를 만드는 만큼,
</a:t>
            </a:r>
            <a:r>
              <a:rPr sz="4000" b="1" spc="-20">
                <a:solidFill>
                  <a:srgbClr val="DC143C"/>
                </a:solidFill>
                <a:latin typeface="Gmarket Sans"/>
              </a:rPr>
              <a:t>더 많은 사람이 알았으면 합니다</a:t>
            </a:r>
            <a:r>
              <a:rPr sz="4000" b="1" spc="-20">
                <a:solidFill>
                  <a:srgbClr val="262626"/>
                </a:solidFill>
                <a:latin typeface="Gmarket Sans"/>
              </a:rPr>
              <a:t>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10515600" cy="247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dirty="0">
                <a:solidFill>
                  <a:srgbClr val="555555"/>
                </a:solidFill>
                <a:latin typeface="Gmarket Sans"/>
              </a:rPr>
              <a:t>— </a:t>
            </a:r>
            <a:r>
              <a:rPr sz="1400" b="1" dirty="0" err="1">
                <a:solidFill>
                  <a:srgbClr val="555555"/>
                </a:solidFill>
                <a:latin typeface="Gmarket Sans"/>
              </a:rPr>
              <a:t>카페</a:t>
            </a:r>
            <a:r>
              <a:rPr sz="1400" b="1" dirty="0">
                <a:solidFill>
                  <a:srgbClr val="555555"/>
                </a:solidFill>
                <a:latin typeface="Gmarket Sans"/>
              </a:rPr>
              <a:t> </a:t>
            </a:r>
            <a:r>
              <a:rPr sz="1400" b="1" dirty="0" err="1" smtClean="0">
                <a:solidFill>
                  <a:srgbClr val="555555"/>
                </a:solidFill>
                <a:latin typeface="Gmarket Sans"/>
              </a:rPr>
              <a:t>수작</a:t>
            </a:r>
            <a:r>
              <a:rPr lang="en-US" sz="1400" b="1" dirty="0" smtClean="0">
                <a:solidFill>
                  <a:srgbClr val="555555"/>
                </a:solidFill>
                <a:latin typeface="Gmarket Sans"/>
              </a:rPr>
              <a:t>, </a:t>
            </a:r>
            <a:r>
              <a:rPr lang="ko-KR" altLang="en-US" sz="1400" b="1" dirty="0" smtClean="0">
                <a:solidFill>
                  <a:srgbClr val="555555"/>
                </a:solidFill>
                <a:latin typeface="Gmarket Sans"/>
              </a:rPr>
              <a:t>손지수 사장님</a:t>
            </a:r>
            <a:endParaRPr sz="1400" b="1" dirty="0">
              <a:solidFill>
                <a:srgbClr val="555555"/>
              </a:solidFill>
              <a:latin typeface="Gmarket San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31520" y="5760720"/>
            <a:ext cx="10972800" cy="9144"/>
          </a:xfrm>
          <a:prstGeom prst="rect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262626"/>
                </a:solidFill>
                <a:latin typeface="Gmarket Sans"/>
              </a:rPr>
              <a:t>이 프로젝트는 수작의 '가치'를 고객에게 전달하는 과정입니다.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6364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spc="200">
                <a:solidFill>
                  <a:srgbClr val="555555"/>
                </a:solidFill>
                <a:latin typeface="Gmarket Sans"/>
              </a:rPr>
              <a:t>Thank you.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6364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spc="300">
                <a:solidFill>
                  <a:srgbClr val="999999"/>
                </a:solidFill>
                <a:latin typeface="Gmarket Sans"/>
              </a:rPr>
              <a:t>CAFE SUZAK ·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1518</Words>
  <Application>Microsoft Office PowerPoint</Application>
  <PresentationFormat>사용자 지정</PresentationFormat>
  <Paragraphs>327</Paragraphs>
  <Slides>15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6" baseType="lpstr"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dc:description>generated using python-pptx</dc:description>
  <cp:lastModifiedBy>User</cp:lastModifiedBy>
  <cp:revision>3</cp:revision>
  <dcterms:created xsi:type="dcterms:W3CDTF">2013-01-27T09:14:16Z</dcterms:created>
  <dcterms:modified xsi:type="dcterms:W3CDTF">2026-05-15T03:12:36Z</dcterms:modified>
</cp:coreProperties>
</file>
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FAE7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548640" cy="45720"/>
          </a:xfrm>
          <a:prstGeom prst="rect">
            <a:avLst/>
          </a:prstGeom>
          <a:solidFill>
            <a:srgbClr val="DC1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400">
                <a:solidFill>
                  <a:srgbClr val="262626"/>
                </a:solidFill>
                <a:latin typeface="Gmarket Sans"/>
              </a:rPr>
              <a:t>CONTENT MARKETING</a:t>
            </a:r>
          </a:p>
          <a:p>
            <a:pPr algn="l">
              <a:lnSpc>
                <a:spcPct val="140000"/>
              </a:lnSpc>
            </a:pPr>
            <a:r>
              <a:rPr sz="1000" b="1" spc="400">
                <a:solidFill>
                  <a:srgbClr val="262626"/>
                </a:solidFill>
                <a:latin typeface="Gmarket Sans"/>
              </a:rPr>
              <a:t>PROGRESS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spc="-20">
                <a:solidFill>
                  <a:srgbClr val="262626"/>
                </a:solidFill>
                <a:latin typeface="Gmarket Sans"/>
              </a:rPr>
              <a:t>CAFE
SUZAK.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300">
                <a:solidFill>
                  <a:srgbClr val="555555"/>
                </a:solidFill>
                <a:latin typeface="Gmarket Sans"/>
              </a:rPr>
              <a:t>Sejong · Jochiwon · Roastery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0058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spc="200">
                <a:solidFill>
                  <a:srgbClr val="555555"/>
                </a:solidFill>
                <a:latin typeface="Gmarket Sans"/>
              </a:rPr>
              <a:t>세종충정지역 영세기업 AI 콘텐츠 마케팅 산학협력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463040"/>
            <a:ext cx="70408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spc="-20">
                <a:solidFill>
                  <a:srgbClr val="262626"/>
                </a:solidFill>
                <a:latin typeface="Gmarket Sans"/>
              </a:rPr>
              <a:t>조용히 쌓아온 가치를,
</a:t>
            </a:r>
            <a:r>
              <a:rPr sz="3600" b="1" spc="-20">
                <a:solidFill>
                  <a:srgbClr val="262626"/>
                </a:solidFill>
                <a:latin typeface="Gmarket Sans"/>
              </a:rPr>
              <a:t>새로운 채널로 </a:t>
            </a:r>
            <a:r>
              <a:rPr sz="3600" b="1" spc="-20">
                <a:solidFill>
                  <a:srgbClr val="DC143C"/>
                </a:solidFill>
                <a:latin typeface="Gmarket Sans"/>
              </a:rPr>
              <a:t>닿다</a:t>
            </a:r>
            <a:r>
              <a:rPr sz="3600" b="1" spc="-20">
                <a:solidFill>
                  <a:srgbClr val="262626"/>
                </a:solidFill>
                <a:latin typeface="Gmarket San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93192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spc="100">
                <a:solidFill>
                  <a:srgbClr val="262626"/>
                </a:solidFill>
                <a:latin typeface="Gmarket Sans"/>
              </a:rPr>
              <a:t>카페수작 · Content Marketing Mid-term Report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4434840"/>
            <a:ext cx="6858000" cy="9144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461772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999999"/>
                </a:solidFill>
                <a:latin typeface="Gmarket Sans"/>
              </a:rPr>
              <a:t>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84632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62626"/>
                </a:solidFill>
                <a:latin typeface="Gmarket Sans"/>
              </a:rPr>
              <a:t>카페수작 (CAFE SUZAK) · 세종 조치원읍 원마루길 28-1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3492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999999"/>
                </a:solidFill>
                <a:latin typeface="Gmarket Sans"/>
              </a:rPr>
              <a:t>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5778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62626"/>
                </a:solidFill>
                <a:latin typeface="Gmarket Sans"/>
              </a:rPr>
              <a:t>AI 콘텐츠 기반 다채널 마케팅 캠페인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08076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999999"/>
                </a:solidFill>
                <a:latin typeface="Gmarket Sans"/>
              </a:rPr>
              <a:t>AUTHOR  ·  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30936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62626"/>
                </a:solidFill>
                <a:latin typeface="Gmarket Sans"/>
              </a:rPr>
              <a:t>글로벌경영학과 2022390786 안혜빈  ·  2026.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00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 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CAFE SUZAK · 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1887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400">
                <a:solidFill>
                  <a:srgbClr val="DC143C"/>
                </a:solidFill>
                <a:latin typeface="Gmarket Sans"/>
              </a:rPr>
              <a:t>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9144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spc="-20">
                <a:solidFill>
                  <a:srgbClr val="262626"/>
                </a:solidFill>
                <a:latin typeface="Gmarket Sans"/>
              </a:rPr>
              <a:t>이 보고서는 </a:t>
            </a:r>
            <a:r>
              <a:rPr sz="3000" b="1" spc="-20">
                <a:solidFill>
                  <a:srgbClr val="262626"/>
                </a:solidFill>
                <a:latin typeface="Gmarket Sans"/>
              </a:rPr>
              <a:t>어떻게 카페수작의 가치를
</a:t>
            </a:r>
            <a:r>
              <a:rPr sz="3000" b="1" spc="-20">
                <a:solidFill>
                  <a:srgbClr val="262626"/>
                </a:solidFill>
                <a:latin typeface="Gmarket Sans"/>
              </a:rPr>
              <a:t>새로운 채널에 </a:t>
            </a:r>
            <a:r>
              <a:rPr sz="3000" b="1" spc="-20">
                <a:solidFill>
                  <a:srgbClr val="DC143C"/>
                </a:solidFill>
                <a:latin typeface="Gmarket Sans"/>
              </a:rPr>
              <a:t>닿게 했는지</a:t>
            </a:r>
            <a:r>
              <a:rPr sz="3000" b="1" spc="-20">
                <a:solidFill>
                  <a:srgbClr val="262626"/>
                </a:solidFill>
                <a:latin typeface="Gmarket Sans"/>
              </a:rPr>
              <a:t> 정리합니다.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6393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62626"/>
                </a:solidFill>
                <a:latin typeface="Gmarket Sans"/>
              </a:rPr>
              <a:t>프로젝트 배경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9319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Project Background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4251960"/>
            <a:ext cx="502920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41148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0965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62626"/>
                </a:solidFill>
                <a:latin typeface="Gmarket Sans"/>
              </a:rPr>
              <a:t>문제 정의 — 가치 vs 인지도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3891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The Paradox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4709160"/>
            <a:ext cx="502920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45720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5537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62626"/>
                </a:solidFill>
                <a:latin typeface="Gmarket Sans"/>
              </a:rPr>
              <a:t>타겟 고객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8463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Target Audience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5166360"/>
            <a:ext cx="502920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50292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109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62626"/>
                </a:solidFill>
                <a:latin typeface="Gmarket Sans"/>
              </a:rPr>
              <a:t>마케팅 전략 개요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303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Strategy Overview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5623560"/>
            <a:ext cx="502920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54864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4681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62626"/>
                </a:solidFill>
                <a:latin typeface="Gmarket Sans"/>
              </a:rPr>
              <a:t>AI 활용 제작 프로세스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7607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AI-Driven Process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6080760"/>
            <a:ext cx="502920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59436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9253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62626"/>
                </a:solidFill>
                <a:latin typeface="Gmarket Sans"/>
              </a:rPr>
              <a:t>산출물 · 웹페이지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62179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Output · Webpage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6537960"/>
            <a:ext cx="502920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00800" y="36576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36393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62626"/>
                </a:solidFill>
                <a:latin typeface="Gmarket Sans"/>
              </a:rPr>
              <a:t>산출물 · 블로그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39319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Output · Blog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400800" y="4251960"/>
            <a:ext cx="502920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00800" y="41148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40965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62626"/>
                </a:solidFill>
                <a:latin typeface="Gmarket Sans"/>
              </a:rPr>
              <a:t>산출물 · 인스타그램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43891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Output · Instagram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400800" y="4709160"/>
            <a:ext cx="502920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400800" y="45720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45537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62626"/>
                </a:solidFill>
                <a:latin typeface="Gmarket Sans"/>
              </a:rPr>
              <a:t>산출물 · 에브리타임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48463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Output · Everytime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400800" y="5166360"/>
            <a:ext cx="502920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400800" y="50292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50109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62626"/>
                </a:solidFill>
                <a:latin typeface="Gmarket Sans"/>
              </a:rPr>
              <a:t>유통 채널 전략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5303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Channel Strategy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400800" y="5623560"/>
            <a:ext cx="502920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400800" y="54864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80" y="54681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62626"/>
                </a:solidFill>
                <a:latin typeface="Gmarket Sans"/>
              </a:rPr>
              <a:t>성과 측정 프레임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0880" y="57607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Performance Framework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400800" y="6080760"/>
            <a:ext cx="502920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400800" y="59436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40880" y="59253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62626"/>
                </a:solidFill>
                <a:latin typeface="Gmarket Sans"/>
              </a:rPr>
              <a:t>향후 계획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40880" y="62179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Next Step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400800" y="6537960"/>
            <a:ext cx="502920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글로벌경영학과  2022390786  안혜빈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653796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INDEX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01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  PROJECT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CAFE SUZAK · 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005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DC143C"/>
                </a:solidFill>
                <a:latin typeface="Gmarket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spc="-20">
                <a:solidFill>
                  <a:srgbClr val="262626"/>
                </a:solidFill>
                <a:latin typeface="Gmarket Sans"/>
              </a:rPr>
              <a:t>진짜 커피를 아는 사람들이 </a:t>
            </a:r>
            <a:r>
              <a:rPr sz="3200" b="1" spc="-20">
                <a:solidFill>
                  <a:srgbClr val="DC143C"/>
                </a:solidFill>
                <a:latin typeface="Gmarket Sans"/>
              </a:rPr>
              <a:t>결국 찾는 곳</a:t>
            </a:r>
            <a:r>
              <a:rPr sz="3200" b="1" spc="-20">
                <a:solidFill>
                  <a:srgbClr val="262626"/>
                </a:solidFill>
                <a:latin typeface="Gmarket Sans"/>
              </a:rPr>
              <a:t>,
카페 수작.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6858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 b="0">
                <a:solidFill>
                  <a:srgbClr val="555555"/>
                </a:solidFill>
                <a:latin typeface="Gmarket Sans"/>
              </a:rPr>
              <a:t>세종 조치원의 작은 골목, 원마루길 28-1.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555555"/>
                </a:solidFill>
                <a:latin typeface="Gmarket Sans"/>
              </a:rPr>
              <a:t>10년 경력 마스터가 매일 매장에서 직접 원두를 볶고,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555555"/>
                </a:solidFill>
                <a:latin typeface="Gmarket Sans"/>
              </a:rPr>
              <a:t>시럽·소스·디저트까지 100% 손으로 만드는 로스터리 카페입니다.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572000"/>
            <a:ext cx="3657600" cy="1691640"/>
          </a:xfrm>
          <a:prstGeom prst="rect">
            <a:avLst/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572000"/>
            <a:ext cx="45720" cy="1691640"/>
          </a:xfrm>
          <a:prstGeom prst="rect">
            <a:avLst/>
          </a:prstGeom>
          <a:solidFill>
            <a:srgbClr val="DC1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8006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HANDMADE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749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62626"/>
                </a:solidFill>
                <a:latin typeface="Gmarket Sans"/>
              </a:rPr>
              <a:t>100% 수작업의 철학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57784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생두 직접 구매 · 매장 로스팅 · 시럽/소스 수제 · 파스타/리조또까지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79" y="4572000"/>
            <a:ext cx="3657600" cy="1691640"/>
          </a:xfrm>
          <a:prstGeom prst="rect">
            <a:avLst/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4572000"/>
            <a:ext cx="45720" cy="1691640"/>
          </a:xfrm>
          <a:prstGeom prst="rect">
            <a:avLst/>
          </a:prstGeom>
          <a:solidFill>
            <a:srgbClr val="DC1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1999" y="48006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MASTERY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50749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62626"/>
                </a:solidFill>
                <a:latin typeface="Gmarket Sans"/>
              </a:rPr>
              <a:t>10년 경력 마스터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557784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본질에 집착하는 결과물 · 단순 카페가 아닌 완성도 높은 커피 경험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19" y="4572000"/>
            <a:ext cx="3657600" cy="1691640"/>
          </a:xfrm>
          <a:prstGeom prst="rect">
            <a:avLst/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19" y="4572000"/>
            <a:ext cx="45720" cy="1691640"/>
          </a:xfrm>
          <a:prstGeom prst="rect">
            <a:avLst/>
          </a:prstGeom>
          <a:solidFill>
            <a:srgbClr val="DC1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39" y="48006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EXPERIENCE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39" y="50749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62626"/>
                </a:solidFill>
                <a:latin typeface="Gmarket Sans"/>
              </a:rPr>
              <a:t>낮엔 카페, 밤엔 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39" y="557784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아메리카노부터 모히또까지 · 22시까지 운영 · 조치원의 작은 아지트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글로벌경영학과  2022390786  안혜빈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53796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PROJECT BACKGROUND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02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  THE PARADOX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CAFE SUZAK · 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005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DC143C"/>
                </a:solidFill>
                <a:latin typeface="Gmarket San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spc="-20">
                <a:solidFill>
                  <a:srgbClr val="262626"/>
                </a:solidFill>
                <a:latin typeface="Gmarket Sans"/>
              </a:rPr>
              <a:t>가치는 충분하지만, </a:t>
            </a:r>
            <a:r>
              <a:rPr sz="3200" b="1" spc="-20">
                <a:solidFill>
                  <a:srgbClr val="DC143C"/>
                </a:solidFill>
                <a:latin typeface="Gmarket Sans"/>
              </a:rPr>
              <a:t>전달되지 않습니다</a:t>
            </a:r>
            <a:r>
              <a:rPr sz="3200" b="1" spc="-20">
                <a:solidFill>
                  <a:srgbClr val="262626"/>
                </a:solidFill>
                <a:latin typeface="Gmarket Sa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>
                <a:solidFill>
                  <a:srgbClr val="555555"/>
                </a:solidFill>
                <a:latin typeface="Gmarket Sans"/>
              </a:rPr>
              <a:t>이미 완성된 명작이지만, 디지털 영역에서는 그 가치가 표현되지 못해 신규 고객 유입이 정체되어 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840480"/>
            <a:ext cx="5394960" cy="2377440"/>
          </a:xfrm>
          <a:prstGeom prst="rect">
            <a:avLst/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PERCEIVED 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62626"/>
                </a:solidFill>
                <a:latin typeface="Gmarket Sans"/>
              </a:rPr>
              <a:t>가벼운 인지도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5000"/>
              </a:lnSpc>
            </a:pPr>
            <a:r>
              <a:rPr sz="1200" b="0">
                <a:solidFill>
                  <a:srgbClr val="555555"/>
                </a:solidFill>
                <a:latin typeface="Gmarket Sans"/>
              </a:rPr>
              <a:t>·  간판이 잘 보이지 않아 지나치기 쉬운 위치</a:t>
            </a:r>
          </a:p>
          <a:p>
            <a:pPr algn="l">
              <a:lnSpc>
                <a:spcPct val="185000"/>
              </a:lnSpc>
            </a:pPr>
            <a:r>
              <a:rPr sz="1200" b="0">
                <a:solidFill>
                  <a:srgbClr val="555555"/>
                </a:solidFill>
                <a:latin typeface="Gmarket Sans"/>
              </a:rPr>
              <a:t>·  테이크아웃·운영 정보 등 기본 정보 부재</a:t>
            </a:r>
          </a:p>
          <a:p>
            <a:pPr algn="l">
              <a:lnSpc>
                <a:spcPct val="185000"/>
              </a:lnSpc>
            </a:pPr>
            <a:r>
              <a:rPr sz="1200" b="0">
                <a:solidFill>
                  <a:srgbClr val="555555"/>
                </a:solidFill>
                <a:latin typeface="Gmarket Sans"/>
              </a:rPr>
              <a:t>·  체계적인 홍보 경험이 거의 없음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840480"/>
            <a:ext cx="5394960" cy="237744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0233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FAE7CB"/>
                </a:solidFill>
                <a:latin typeface="Gmarket Sans"/>
              </a:rPr>
              <a:t>INTRINSIC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2976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Gmarket Sans"/>
              </a:rPr>
              <a:t>본질적 경쟁력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800600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5000"/>
              </a:lnSpc>
            </a:pPr>
            <a:r>
              <a:rPr sz="1200" b="0">
                <a:solidFill>
                  <a:srgbClr val="FFFFFF"/>
                </a:solidFill>
                <a:latin typeface="Gmarket Sans"/>
              </a:rPr>
              <a:t>·  약 10년의 탄탄한 업력</a:t>
            </a:r>
          </a:p>
          <a:p>
            <a:pPr algn="l">
              <a:lnSpc>
                <a:spcPct val="185000"/>
              </a:lnSpc>
            </a:pPr>
            <a:r>
              <a:rPr sz="1200" b="0">
                <a:solidFill>
                  <a:srgbClr val="FFFFFF"/>
                </a:solidFill>
                <a:latin typeface="Gmarket Sans"/>
              </a:rPr>
              <a:t>·  세종시 최고 수준이라 자부하는 직접 로스팅 커피</a:t>
            </a:r>
          </a:p>
          <a:p>
            <a:pPr algn="l">
              <a:lnSpc>
                <a:spcPct val="185000"/>
              </a:lnSpc>
            </a:pPr>
            <a:r>
              <a:rPr sz="1200" b="0">
                <a:solidFill>
                  <a:srgbClr val="FFFFFF"/>
                </a:solidFill>
                <a:latin typeface="Gmarket Sans"/>
              </a:rPr>
              <a:t>·  제빵 자격증 · 파스타/소스까지 직접 만드는 요리 역량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글로벌경영학과  2022390786  안혜빈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53796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THE PARADOX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03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  TARGET AUDIENCE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CAFE SUZAK · 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005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DC143C"/>
                </a:solidFill>
                <a:latin typeface="Gmarket San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spc="-20">
                <a:solidFill>
                  <a:srgbClr val="262626"/>
                </a:solidFill>
                <a:latin typeface="Gmarket Sans"/>
              </a:rPr>
              <a:t>누구에게 </a:t>
            </a:r>
            <a:r>
              <a:rPr sz="3200" b="1" spc="-20">
                <a:solidFill>
                  <a:srgbClr val="DC143C"/>
                </a:solidFill>
                <a:latin typeface="Gmarket Sans"/>
              </a:rPr>
              <a:t>우리의 가치</a:t>
            </a:r>
            <a:r>
              <a:rPr sz="3200" b="1" spc="-20">
                <a:solidFill>
                  <a:srgbClr val="262626"/>
                </a:solidFill>
                <a:latin typeface="Gmarket Sans"/>
              </a:rPr>
              <a:t>를 전달할 것인가?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17520"/>
            <a:ext cx="36576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017520"/>
            <a:ext cx="3657600" cy="457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363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400">
                <a:solidFill>
                  <a:srgbClr val="FAE7CB"/>
                </a:solidFill>
                <a:latin typeface="Gmarket Sans"/>
              </a:rPr>
              <a:t>01  PRIMARY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03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PRIMARY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776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62626"/>
                </a:solidFill>
                <a:latin typeface="Gmarket Sans"/>
              </a:rPr>
              <a:t>고려대 및 인근</a:t>
            </a:r>
          </a:p>
          <a:p>
            <a:pPr algn="l">
              <a:lnSpc>
                <a:spcPct val="120000"/>
              </a:lnSpc>
            </a:pPr>
            <a:r>
              <a:rPr sz="1800" b="1">
                <a:solidFill>
                  <a:srgbClr val="262626"/>
                </a:solidFill>
                <a:latin typeface="Gmarket Sans"/>
              </a:rPr>
              <a:t>대학생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4632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주 고객층이자 잠재적 바이럴의 핵심 진원지.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조치원 내 학생 커뮤니티가 좁고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구전 효과가 크게 작용하는 지역.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709160"/>
            <a:ext cx="457200" cy="18288"/>
          </a:xfrm>
          <a:prstGeom prst="rect">
            <a:avLst/>
          </a:prstGeom>
          <a:solidFill>
            <a:srgbClr val="DC1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3017520"/>
            <a:ext cx="36576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3017520"/>
            <a:ext cx="3657600" cy="457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31363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400">
                <a:solidFill>
                  <a:srgbClr val="FAE7CB"/>
                </a:solidFill>
                <a:latin typeface="Gmarket Sans"/>
              </a:rPr>
              <a:t>02  BEHAVIORAL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703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BEHAVIORAL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9776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62626"/>
                </a:solidFill>
                <a:latin typeface="Gmarket Sans"/>
              </a:rPr>
              <a:t>카공족 &amp;</a:t>
            </a:r>
          </a:p>
          <a:p>
            <a:pPr algn="l">
              <a:lnSpc>
                <a:spcPct val="120000"/>
              </a:lnSpc>
            </a:pPr>
            <a:r>
              <a:rPr sz="1800" b="1">
                <a:solidFill>
                  <a:srgbClr val="262626"/>
                </a:solidFill>
                <a:latin typeface="Gmarket Sans"/>
              </a:rPr>
              <a:t>장기 체류자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84632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조용한 환경과 사장님의 배려(터치 없음),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넓은 좌석 간격으로 인해 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장시간 공부하기 편한 공간을 찾는 고객.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4709160"/>
            <a:ext cx="457200" cy="18288"/>
          </a:xfrm>
          <a:prstGeom prst="rect">
            <a:avLst/>
          </a:prstGeom>
          <a:solidFill>
            <a:srgbClr val="DC1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017520"/>
            <a:ext cx="36576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3017520"/>
            <a:ext cx="3657600" cy="457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31363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400">
                <a:solidFill>
                  <a:srgbClr val="FAE7CB"/>
                </a:solidFill>
                <a:latin typeface="Gmarket Sans"/>
              </a:rPr>
              <a:t>03  LOYALTY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703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LOYALTY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9776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62626"/>
                </a:solidFill>
                <a:latin typeface="Gmarket Sans"/>
              </a:rPr>
              <a:t>졸업생 &amp;</a:t>
            </a:r>
          </a:p>
          <a:p>
            <a:pPr algn="l">
              <a:lnSpc>
                <a:spcPct val="120000"/>
              </a:lnSpc>
            </a:pPr>
            <a:r>
              <a:rPr sz="1800" b="1">
                <a:solidFill>
                  <a:srgbClr val="262626"/>
                </a:solidFill>
                <a:latin typeface="Gmarket Sans"/>
              </a:rPr>
              <a:t>지인 추천 방문객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84632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오직 '커피 맛' 하나로 재방문하는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두터운 충성도를 가진 그룹.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선배–후배 추천 사이클의 시작점.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20" y="4709160"/>
            <a:ext cx="457200" cy="18288"/>
          </a:xfrm>
          <a:prstGeom prst="rect">
            <a:avLst/>
          </a:prstGeom>
          <a:solidFill>
            <a:srgbClr val="DC1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글로벌경영학과  2022390786  안혜빈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653796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TARGET AUDIENCE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04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  STRATEGY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CAFE SUZAK · 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005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DC143C"/>
                </a:solidFill>
                <a:latin typeface="Gmarket San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spc="-20">
                <a:solidFill>
                  <a:srgbClr val="262626"/>
                </a:solidFill>
                <a:latin typeface="Gmarket Sans"/>
              </a:rPr>
              <a:t>맛으로 승부하는 시대는 끝났습니다.
</a:t>
            </a:r>
            <a:r>
              <a:rPr sz="2800" b="1" spc="-20">
                <a:solidFill>
                  <a:srgbClr val="262626"/>
                </a:solidFill>
                <a:latin typeface="Gmarket Sans"/>
              </a:rPr>
              <a:t>이제 </a:t>
            </a:r>
            <a:r>
              <a:rPr sz="2800" b="1" spc="-20">
                <a:solidFill>
                  <a:srgbClr val="DC143C"/>
                </a:solidFill>
                <a:latin typeface="Gmarket Sans"/>
              </a:rPr>
              <a:t>경험을 증명하고 전파</a:t>
            </a:r>
            <a:r>
              <a:rPr sz="2800" b="1" spc="-20">
                <a:solidFill>
                  <a:srgbClr val="262626"/>
                </a:solidFill>
                <a:latin typeface="Gmarket Sans"/>
              </a:rPr>
              <a:t>해야 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400">
                <a:solidFill>
                  <a:srgbClr val="DC143C"/>
                </a:solidFill>
                <a:latin typeface="Gmarket Sans"/>
              </a:rPr>
              <a:t>STRATEGIC PILLARS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77639"/>
            <a:ext cx="11091672" cy="9144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P ·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62626"/>
                </a:solidFill>
                <a:latin typeface="Gmarket Sans"/>
              </a:rPr>
              <a:t>장인정신 스토리텔링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74920"/>
            <a:ext cx="3566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로스팅 과정·메뉴 비하인드·공간 분위기를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에디토리얼 톤으로 풀어 전문성과 정성을 전달.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20624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P ·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45720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62626"/>
                </a:solidFill>
                <a:latin typeface="Gmarket Sans"/>
              </a:rPr>
              <a:t>목적형 검색 타겟팅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5074920"/>
            <a:ext cx="3566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'조치원 카페수작', '핸드드립', '카공 카페' 등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검색 의도가 명확한 키워드로 신뢰형 유입 확보.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20624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P ·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5720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62626"/>
                </a:solidFill>
                <a:latin typeface="Gmarket Sans"/>
              </a:rPr>
              <a:t>AI 콘텐츠 자산화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5074920"/>
            <a:ext cx="3566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Claude + VSCode로 웹페이지·블로그·SNS를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빠르게 제작·반복 개선, 가성비 높은 자산으로 축적.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글로벌경영학과  2022390786  안혜빈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53796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STRATEGY OVERVIEW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05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  AI-DRIVEN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CAFE SUZAK · 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005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DC143C"/>
                </a:solidFill>
                <a:latin typeface="Gmarket Sans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spc="-20">
                <a:solidFill>
                  <a:srgbClr val="262626"/>
                </a:solidFill>
                <a:latin typeface="Gmarket Sans"/>
              </a:rPr>
              <a:t>Claude Code + VS Code</a:t>
            </a:r>
            <a:r>
              <a:rPr sz="3200" b="1" spc="-20">
                <a:solidFill>
                  <a:srgbClr val="262626"/>
                </a:solidFill>
                <a:latin typeface="Gmarket Sans"/>
              </a:rPr>
              <a:t>로
</a:t>
            </a:r>
            <a:r>
              <a:rPr sz="3200" b="1" spc="-20">
                <a:solidFill>
                  <a:srgbClr val="DC143C"/>
                </a:solidFill>
                <a:latin typeface="Gmarket Sans"/>
              </a:rPr>
              <a:t>아이디어를 실제 자산으로</a:t>
            </a:r>
            <a:r>
              <a:rPr sz="3200" b="1" spc="-20">
                <a:solidFill>
                  <a:srgbClr val="262626"/>
                </a:solidFill>
                <a:latin typeface="Gmarket Sa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400">
                <a:solidFill>
                  <a:srgbClr val="DC143C"/>
                </a:solidFill>
                <a:latin typeface="Gmarket Sans"/>
              </a:rPr>
              <a:t>TOOLSTACK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03320"/>
            <a:ext cx="11091672" cy="9144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931920"/>
            <a:ext cx="3566160" cy="2011680"/>
          </a:xfrm>
          <a:prstGeom prst="rect">
            <a:avLst/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1605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62626"/>
                </a:solidFill>
                <a:latin typeface="Gmarket Sans"/>
              </a:rPr>
              <a:t>Claude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720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DC143C"/>
                </a:solidFill>
                <a:latin typeface="Gmarket Sans"/>
              </a:rPr>
              <a:t>AI CO-WORKER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9204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프롬프트로 코드·카피·디자인 톤·문서를 즉시 생성.</a:t>
            </a:r>
          </a:p>
          <a:p>
            <a:pPr algn="l">
              <a:lnSpc>
                <a:spcPct val="170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반복 수정에 강해 빠른 디자인 이터레이션 가능.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3931920"/>
            <a:ext cx="3566160" cy="2011680"/>
          </a:xfrm>
          <a:prstGeom prst="rect">
            <a:avLst/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41605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62626"/>
                </a:solidFill>
                <a:latin typeface="Gmarket Sans"/>
              </a:rPr>
              <a:t>VS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5720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DC143C"/>
                </a:solidFill>
                <a:latin typeface="Gmarket Sans"/>
              </a:rPr>
              <a:t>EDITOR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89204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코드 결과물 확인·미세 조정·로컬 프리뷰.</a:t>
            </a:r>
          </a:p>
          <a:p>
            <a:pPr algn="l">
              <a:lnSpc>
                <a:spcPct val="170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실시간 미리보기로 톤·반응형 검수 진행.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3931920"/>
            <a:ext cx="3566160" cy="2011680"/>
          </a:xfrm>
          <a:prstGeom prst="rect">
            <a:avLst/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41605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62626"/>
                </a:solidFill>
                <a:latin typeface="Gmarket Sans"/>
              </a:rPr>
              <a:t>Netlify Drop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5720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DC143C"/>
                </a:solidFill>
                <a:latin typeface="Gmarket Sans"/>
              </a:rPr>
              <a:t>DEPLOY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89204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별도 계정 없이 폴더 드래그만으로</a:t>
            </a:r>
          </a:p>
          <a:p>
            <a:pPr algn="l">
              <a:lnSpc>
                <a:spcPct val="170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공개 URL 즉시 발급. 모바일 테스트 즉시 가능.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00">
                <a:solidFill>
                  <a:srgbClr val="555555"/>
                </a:solidFill>
                <a:latin typeface="Gmarket Sans"/>
              </a:rPr>
              <a:t>PROMPT → ITERATE → DEPLOY  ·  약 15+ 차례 반복 수정으로 콘셉트·톤·기능을 점진적으로 다듬어 완성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글로벌경영학과  2022390786  안혜빈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53796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AI-DRIVEN PROCESS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06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  OUTPUT · WEBPAGE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CAFE SUZAK · 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005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DC143C"/>
                </a:solidFill>
                <a:latin typeface="Gmarket Sans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spc="-20">
                <a:solidFill>
                  <a:srgbClr val="262626"/>
                </a:solidFill>
                <a:latin typeface="Gmarket Sans"/>
              </a:rPr>
              <a:t>"오늘 카페수작에서 </a:t>
            </a:r>
            <a:r>
              <a:rPr sz="3000" b="1" spc="-20">
                <a:solidFill>
                  <a:srgbClr val="DC143C"/>
                </a:solidFill>
                <a:latin typeface="Gmarket Sans"/>
              </a:rPr>
              <a:t>뭐 마실까</a:t>
            </a:r>
            <a:r>
              <a:rPr sz="3000" b="1" spc="-20">
                <a:solidFill>
                  <a:srgbClr val="262626"/>
                </a:solidFill>
                <a:latin typeface="Gmarket Sans"/>
              </a:rPr>
              <a:t>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555555"/>
                </a:solidFill>
                <a:latin typeface="Gmarket Sans"/>
              </a:rPr>
              <a:t>기분과 날씨에 맞춰 카페수작의 메뉴를 추천해주는 인터랙티브 랜딩페이지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08960"/>
            <a:ext cx="11091672" cy="50292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004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FAE7CB"/>
                </a:solidFill>
                <a:latin typeface="Gmarket Sans"/>
              </a:rPr>
              <a:t>LIVE URL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2004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Gmarket Sans"/>
              </a:rPr>
              <a:t>https://cafesuzak.netlify.app/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40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400">
                <a:solidFill>
                  <a:srgbClr val="DC143C"/>
                </a:solidFill>
                <a:latin typeface="Gmarket Sans"/>
              </a:rPr>
              <a:t>KEY FEATURES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60520"/>
            <a:ext cx="11091672" cy="9144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3891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F ·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091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62626"/>
                </a:solidFill>
                <a:latin typeface="Gmarket Sans"/>
              </a:rPr>
              <a:t>실시간 날씨 추천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2064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Open-Meteo API로 조치원 + 사용자 위치 동시 표시. 기온·강수 기반 자동 코멘트.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3891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F ·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7091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62626"/>
                </a:solidFill>
                <a:latin typeface="Gmarket Sans"/>
              </a:rPr>
              <a:t>기분 10종 메뉴 추천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512064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잠깨야해·카공·단거·하루마무리 등 10가지 기분별 메뉴 3종 자동 매칭.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3891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F ·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7091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62626"/>
                </a:solidFill>
                <a:latin typeface="Gmarket Sans"/>
              </a:rPr>
              <a:t>실시간 영업 상태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12064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한국시간 기준 영업/휴무 자동 판별. 토요일 휴무·라스트오더 30분 전 안내.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43891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F · 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47091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62626"/>
                </a:solidFill>
                <a:latin typeface="Gmarket Sans"/>
              </a:rPr>
              <a:t>반응형 디자인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5120640"/>
            <a:ext cx="2560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데스크탑·태블릿·모바일 자동 대응. WatchHouse·Hola Coffee 톤 에디토리얼 무드.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글로벌경영학과  2022390786  안혜빈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53796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OUTPUT · WEBPAGE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07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  OUTPUT · BLOG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CAFE SUZAK · 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005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DC143C"/>
                </a:solidFill>
                <a:latin typeface="Gmarket Sans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spc="-20">
                <a:solidFill>
                  <a:srgbClr val="262626"/>
                </a:solidFill>
                <a:latin typeface="Gmarket Sans"/>
              </a:rPr>
              <a:t>전체적으로 </a:t>
            </a:r>
            <a:r>
              <a:rPr sz="2800" b="1" spc="-20">
                <a:solidFill>
                  <a:srgbClr val="DC143C"/>
                </a:solidFill>
                <a:latin typeface="Gmarket Sans"/>
              </a:rPr>
              <a:t>"수작이라는 카페"</a:t>
            </a:r>
            <a:r>
              <a:rPr sz="2800" b="1" spc="-20">
                <a:solidFill>
                  <a:srgbClr val="262626"/>
                </a:solidFill>
                <a:latin typeface="Gmarket Sans"/>
              </a:rPr>
              <a:t>를
소개하는 </a:t>
            </a:r>
            <a:r>
              <a:rPr sz="2800" b="1" spc="-20">
                <a:solidFill>
                  <a:srgbClr val="262626"/>
                </a:solidFill>
                <a:latin typeface="Gmarket Sans"/>
              </a:rPr>
              <a:t>마케팅 블로그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204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62626"/>
                </a:solidFill>
                <a:latin typeface="Gmarket Sans"/>
              </a:rPr>
              <a:t>네이버 블로그 (Naver Blog)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862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한국 검색 점유율 압도적 · 장문 + 이미지 콘텐츠에 가장 적합한 환경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TONE &amp; ANGLE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46320"/>
            <a:ext cx="6400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·  방문 경험 기반 1인칭 친근체로 작성</a:t>
            </a:r>
          </a:p>
          <a:p>
            <a:pPr algn="l">
              <a:lnSpc>
                <a:spcPct val="18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·  카페수작의 전반적인 소개 (위치·메뉴·분위기·시그니처)</a:t>
            </a:r>
          </a:p>
          <a:p>
            <a:pPr algn="l">
              <a:lnSpc>
                <a:spcPct val="18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·  글 마지막에 "여러분도 방문해보세요" CTA + 웹페이지 링크 자연 연결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3200400"/>
            <a:ext cx="4343400" cy="3017520"/>
          </a:xfrm>
          <a:prstGeom prst="rect">
            <a:avLst/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3383280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SAMPLE  ·  최근 발행 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703320"/>
            <a:ext cx="3886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62626"/>
                </a:solidFill>
                <a:latin typeface="Gmarket Sans"/>
              </a:rPr>
              <a:t>오늘 날씨엔 뭐 마시지?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62626"/>
                </a:solidFill>
                <a:latin typeface="Gmarket Sans"/>
              </a:rPr>
              <a:t>조치원 카페수작에서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62626"/>
                </a:solidFill>
                <a:latin typeface="Gmarket Sans"/>
              </a:rPr>
              <a:t>기분별로 골라본 6잔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5120640"/>
            <a:ext cx="457200" cy="27432"/>
          </a:xfrm>
          <a:prstGeom prst="rect">
            <a:avLst/>
          </a:prstGeom>
          <a:solidFill>
            <a:srgbClr val="DC1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5257800"/>
            <a:ext cx="3886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· 약 3,000자 / 읽는 시간 5분</a:t>
            </a:r>
          </a:p>
          <a:p>
            <a:pPr algn="l">
              <a:lnSpc>
                <a:spcPct val="175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· 6가지 기분 시나리오 + 메뉴 매칭</a:t>
            </a:r>
          </a:p>
          <a:p>
            <a:pPr algn="l">
              <a:lnSpc>
                <a:spcPct val="175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· 마지막에 웹페이지 링크 임베드</a:t>
            </a:r>
          </a:p>
          <a:p>
            <a:pPr algn="l">
              <a:lnSpc>
                <a:spcPct val="175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· 해시태그 16개 (조치원 SEO 위주)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글로벌경영학과  2022390786  안혜빈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53796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OUTPUT · BLOG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08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  OUTPUT ·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CAFE SUZAK · 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005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DC143C"/>
                </a:solidFill>
                <a:latin typeface="Gmarket Sans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spc="-20">
                <a:solidFill>
                  <a:srgbClr val="262626"/>
                </a:solidFill>
                <a:latin typeface="Gmarket Sans"/>
              </a:rPr>
              <a:t>지인과 </a:t>
            </a:r>
            <a:r>
              <a:rPr sz="2800" b="1" spc="-20">
                <a:solidFill>
                  <a:srgbClr val="DC143C"/>
                </a:solidFill>
                <a:latin typeface="Gmarket Sans"/>
              </a:rPr>
              <a:t>근거리 거주자</a:t>
            </a:r>
            <a:r>
              <a:rPr sz="2800" b="1" spc="-20">
                <a:solidFill>
                  <a:srgbClr val="262626"/>
                </a:solidFill>
                <a:latin typeface="Gmarket Sans"/>
              </a:rPr>
              <a:t>를 향한
</a:t>
            </a:r>
            <a:r>
              <a:rPr sz="2800" b="1" spc="-20">
                <a:solidFill>
                  <a:srgbClr val="262626"/>
                </a:solidFill>
                <a:latin typeface="Gmarket Sans"/>
              </a:rPr>
              <a:t>개인 계정 기반 자연 확산</a:t>
            </a:r>
            <a:r>
              <a:rPr sz="2800" b="1" spc="-20">
                <a:solidFill>
                  <a:srgbClr val="262626"/>
                </a:solidFill>
                <a:latin typeface="Gmarket Sa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PLATFORM  · 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62626"/>
                </a:solidFill>
                <a:latin typeface="Gmarket Sans"/>
              </a:rPr>
              <a:t>개인 인스타그램 (Personal IG)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690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지인 + 조치원·세종 근거리 거주자 / 학생 네트워크 1차 확산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0916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83480"/>
            <a:ext cx="6400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·  본 광고가 아닌 "내가 좋아하는 카페" 톤의 자연스러운 추천</a:t>
            </a:r>
          </a:p>
          <a:p>
            <a:pPr algn="l">
              <a:lnSpc>
                <a:spcPct val="18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·  지인 도달률이 높은 IG 특성을 활용한 신뢰 기반 확산</a:t>
            </a:r>
          </a:p>
          <a:p>
            <a:pPr algn="l">
              <a:lnSpc>
                <a:spcPct val="18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·  릴스 포맷으로 짧고 강한 비주얼 메시지 전달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3291840"/>
            <a:ext cx="4343400" cy="301752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3474720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FAE7CB"/>
                </a:solidFill>
                <a:latin typeface="Gmarket Sans"/>
              </a:rPr>
              <a:t>DELIVERABLES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794760"/>
            <a:ext cx="3886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spc="-30">
                <a:solidFill>
                  <a:srgbClr val="FAE7CB"/>
                </a:solidFill>
                <a:latin typeface="Gmarket Sans"/>
              </a:rPr>
              <a:t>03</a:t>
            </a:r>
          </a:p>
          <a:p>
            <a:pPr algn="l">
              <a:lnSpc>
                <a:spcPct val="100000"/>
              </a:lnSpc>
            </a:pPr>
            <a:r>
              <a:rPr sz="1200" b="1" spc="200">
                <a:solidFill>
                  <a:srgbClr val="FFFFFF"/>
                </a:solidFill>
                <a:latin typeface="Gmarket Sans"/>
              </a:rPr>
              <a:t>Reels Uploaded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5394960"/>
            <a:ext cx="457200" cy="27432"/>
          </a:xfrm>
          <a:prstGeom prst="rect">
            <a:avLst/>
          </a:prstGeom>
          <a:solidFill>
            <a:srgbClr val="DC1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5532120"/>
            <a:ext cx="3886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000" b="0">
                <a:solidFill>
                  <a:srgbClr val="FFFFFF"/>
                </a:solidFill>
                <a:latin typeface="Gmarket Sans"/>
              </a:rPr>
              <a:t>카페 분위기 · 메뉴 클로즈업 · 핸드드립 과정</a:t>
            </a:r>
          </a:p>
          <a:p>
            <a:pPr algn="l">
              <a:lnSpc>
                <a:spcPct val="170000"/>
              </a:lnSpc>
            </a:pPr>
            <a:r>
              <a:rPr sz="1000" b="0">
                <a:solidFill>
                  <a:srgbClr val="FFFFFF"/>
                </a:solidFill>
                <a:latin typeface="Gmarket Sans"/>
              </a:rPr>
              <a:t>각 릴스는 30초 내외, 음악·자막으로 몰입감 강화.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글로벌경영학과  2022390786  안혜빈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53796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OUTPUT · INSTAGRAM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09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  OUTPUT · EVERYTIME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CAFE SUZAK · 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005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DC143C"/>
                </a:solidFill>
                <a:latin typeface="Gmarket Sans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spc="-20">
                <a:solidFill>
                  <a:srgbClr val="262626"/>
                </a:solidFill>
                <a:latin typeface="Gmarket Sans"/>
              </a:rPr>
              <a:t>학생들이 </a:t>
            </a:r>
            <a:r>
              <a:rPr sz="2800" b="1" spc="-20">
                <a:solidFill>
                  <a:srgbClr val="DC143C"/>
                </a:solidFill>
                <a:latin typeface="Gmarket Sans"/>
              </a:rPr>
              <a:t>거의 매일 여는 앱</a:t>
            </a:r>
            <a:r>
              <a:rPr sz="2800" b="1" spc="-20">
                <a:solidFill>
                  <a:srgbClr val="262626"/>
                </a:solidFill>
                <a:latin typeface="Gmarket Sans"/>
              </a:rPr>
              <a:t>,
에브리타임을 마케팅 자산화.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3756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PLATFORM  · 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118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62626"/>
                </a:solidFill>
                <a:latin typeface="Gmarket Sans"/>
              </a:rPr>
              <a:t>에브리타임 (Everytime · 대학 커뮤니티)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수업·시간표·게시판이 통합된 학생 일상 앱.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수업이 있는 날에는 거의 매일 접속해 도달률·관여도가 압도적.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120640"/>
            <a:ext cx="6400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·  학교 인근 카페라는 강한 지리적 연결성을 부각</a:t>
            </a:r>
          </a:p>
          <a:p>
            <a:pPr algn="l">
              <a:lnSpc>
                <a:spcPct val="18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·  광고 톤이 아닌 "실제 학생 후기" 형태로 자연스럽게 게시</a:t>
            </a:r>
          </a:p>
          <a:p>
            <a:pPr algn="l">
              <a:lnSpc>
                <a:spcPct val="18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·  카공·시험 기간·데이트 등 학생 컨텍스트에 메뉴 추천 매칭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3291840"/>
            <a:ext cx="4343400" cy="3017520"/>
          </a:xfrm>
          <a:prstGeom prst="rect">
            <a:avLst/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3474720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WHY EVERYTIME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794760"/>
            <a:ext cx="3886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62626"/>
                </a:solidFill>
                <a:latin typeface="Gmarket Sans"/>
              </a:rPr>
              <a:t>학생 일상 동선의 정중앙.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62626"/>
                </a:solidFill>
                <a:latin typeface="Gmarket Sans"/>
              </a:rPr>
              <a:t>광고비 0원, 도달은 최대.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4937760"/>
            <a:ext cx="457200" cy="27432"/>
          </a:xfrm>
          <a:prstGeom prst="rect">
            <a:avLst/>
          </a:prstGeom>
          <a:solidFill>
            <a:srgbClr val="DC1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5074920"/>
            <a:ext cx="3886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5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· 게시판은 학생들의 정보 의존도가 높음</a:t>
            </a:r>
          </a:p>
          <a:p>
            <a:pPr algn="l">
              <a:lnSpc>
                <a:spcPct val="185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· '학교 근처 카공 카페' 검색 트래픽 발생</a:t>
            </a:r>
          </a:p>
          <a:p>
            <a:pPr algn="l">
              <a:lnSpc>
                <a:spcPct val="185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· 추천 후기 댓글이 자연 바이럴로 작동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글로벌경영학과  2022390786  안혜빈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53796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OUTPUT · EVERYTIME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10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  CHANNEL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CAFE SUZAK · 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005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DC143C"/>
                </a:solidFill>
                <a:latin typeface="Gmarket San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spc="-20">
                <a:solidFill>
                  <a:srgbClr val="262626"/>
                </a:solidFill>
                <a:latin typeface="Gmarket Sans"/>
              </a:rPr>
              <a:t>세 개의 채널, </a:t>
            </a:r>
            <a:r>
              <a:rPr sz="3000" b="1" spc="-20">
                <a:solidFill>
                  <a:srgbClr val="DC143C"/>
                </a:solidFill>
                <a:latin typeface="Gmarket Sans"/>
              </a:rPr>
              <a:t>세 가지 역할</a:t>
            </a:r>
            <a:r>
              <a:rPr sz="3000" b="1" spc="-20">
                <a:solidFill>
                  <a:srgbClr val="262626"/>
                </a:solidFill>
                <a:latin typeface="Gmarket Sa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Gmarket Sans"/>
              </a:rPr>
              <a:t>각 채널의 강점이 다르므로 콘텐츠 톤과 목표를 분리해 운영합니다.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11091672" cy="41148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6499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FAE7CB"/>
                </a:solidFill>
                <a:latin typeface="Gmarket Sans"/>
              </a:rPr>
              <a:t>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36499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FAE7CB"/>
                </a:solidFill>
                <a:latin typeface="Gmarket Sans"/>
              </a:rPr>
              <a:t>ROLE  ·  목적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33649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FAE7CB"/>
                </a:solidFill>
                <a:latin typeface="Gmarket Sans"/>
              </a:rPr>
              <a:t>AUDIENCE  ·  타겟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36499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FAE7CB"/>
                </a:solidFill>
                <a:latin typeface="Gmarket Sans"/>
              </a:rPr>
              <a:t>CONTENT  ·  콘텐츠 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03320"/>
            <a:ext cx="11091672" cy="960120"/>
          </a:xfrm>
          <a:prstGeom prst="rect">
            <a:avLst/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DC143C"/>
                </a:solidFill>
                <a:latin typeface="Gmarket San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690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62626"/>
                </a:solidFill>
                <a:latin typeface="Gmarket Sans"/>
              </a:rPr>
              <a:t>네이버 블로그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6168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NAVER BLOG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9776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262626"/>
                </a:solidFill>
                <a:latin typeface="Gmarket Sans"/>
              </a:rPr>
              <a:t>검색 유입 + 신뢰 구축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39776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조치원·카페 검색 의도가 있는 일반 사용자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397764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장문 1인칭 후기 · 카페 전반 소개 · 마케팅 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8463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DC143C"/>
                </a:solidFill>
                <a:latin typeface="Gmarket Sans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749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62626"/>
                </a:solidFill>
                <a:latin typeface="Gmarket Sans"/>
              </a:rPr>
              <a:t>에브리타임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6752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EVERYTIME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49834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262626"/>
                </a:solidFill>
                <a:latin typeface="Gmarket Sans"/>
              </a:rPr>
              <a:t>학생 도달 + 학내 바이럴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498348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고려대·홍익대 세종캠퍼스 재학생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498348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광고 톤 X · 실사용자 후기 톤 · 학생 컨텍스트 매칭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715000"/>
            <a:ext cx="11091672" cy="960120"/>
          </a:xfrm>
          <a:prstGeom prst="rect">
            <a:avLst/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8521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DC143C"/>
                </a:solidFill>
                <a:latin typeface="Gmarket San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0807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62626"/>
                </a:solidFill>
                <a:latin typeface="Gmarket Sans"/>
              </a:rPr>
              <a:t>인스타그램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37336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INSTAGRAM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59893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262626"/>
                </a:solidFill>
                <a:latin typeface="Gmarket Sans"/>
              </a:rPr>
              <a:t>지인·근거리 자연 확산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59893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본인 지인 + 조치원 근거리 거주자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598932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릴스 중심 · 비주얼 강조 · 일상 톤 큐레이션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글로벌경영학과  2022390786  안혜빈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653796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CHANNEL STRATEGY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11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  PERFORMANCE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CAFE SUZAK · 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005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DC143C"/>
                </a:solidFill>
                <a:latin typeface="Gmarket San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spc="-20">
                <a:solidFill>
                  <a:srgbClr val="262626"/>
                </a:solidFill>
                <a:latin typeface="Gmarket Sans"/>
              </a:rPr>
              <a:t>플랫폼·콘텐츠 </a:t>
            </a:r>
            <a:r>
              <a:rPr sz="2800" b="1" spc="-20">
                <a:solidFill>
                  <a:srgbClr val="DC143C"/>
                </a:solidFill>
                <a:latin typeface="Gmarket Sans"/>
              </a:rPr>
              <a:t>총합으로 측정</a:t>
            </a:r>
            <a:r>
              <a:rPr sz="2800" b="1" spc="-20">
                <a:solidFill>
                  <a:srgbClr val="262626"/>
                </a:solidFill>
                <a:latin typeface="Gmarket Sans"/>
              </a:rPr>
              <a:t>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400">
                <a:solidFill>
                  <a:srgbClr val="DC143C"/>
                </a:solidFill>
                <a:latin typeface="Gmarket Sans"/>
              </a:rPr>
              <a:t>KPI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337560"/>
            <a:ext cx="11091672" cy="9144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spc="-30">
                <a:solidFill>
                  <a:srgbClr val="262626"/>
                </a:solidFill>
                <a:latin typeface="Gmarket Sans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TOTAL 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463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900" b="0">
                <a:solidFill>
                  <a:srgbClr val="555555"/>
                </a:solidFill>
                <a:latin typeface="Gmarket Sans"/>
              </a:rPr>
              <a:t>릴스 3 + 블로그 2 + 웹페이지 1</a:t>
            </a:r>
          </a:p>
          <a:p>
            <a:pPr algn="l">
              <a:lnSpc>
                <a:spcPct val="155000"/>
              </a:lnSpc>
            </a:pPr>
            <a:r>
              <a:rPr sz="900" b="0">
                <a:solidFill>
                  <a:srgbClr val="555555"/>
                </a:solidFill>
                <a:latin typeface="Gmarket Sans"/>
              </a:rPr>
              <a:t>(추가 콘텐츠 제작 예정)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56616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spc="-30">
                <a:solidFill>
                  <a:srgbClr val="262626"/>
                </a:solidFill>
                <a:latin typeface="Gmarket San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5720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PLATFORMS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48463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900" b="0">
                <a:solidFill>
                  <a:srgbClr val="555555"/>
                </a:solidFill>
                <a:latin typeface="Gmarket Sans"/>
              </a:rPr>
              <a:t>네이버 블로그 · 에브리타임</a:t>
            </a:r>
          </a:p>
          <a:p>
            <a:pPr algn="l">
              <a:lnSpc>
                <a:spcPct val="155000"/>
              </a:lnSpc>
            </a:pPr>
            <a:r>
              <a:rPr sz="900" b="0">
                <a:solidFill>
                  <a:srgbClr val="555555"/>
                </a:solidFill>
                <a:latin typeface="Gmarket Sans"/>
              </a:rPr>
              <a:t>인스타그램 · 웹(독립 도메인)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56616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spc="-30">
                <a:solidFill>
                  <a:srgbClr val="262626"/>
                </a:solidFill>
                <a:latin typeface="Gmarket San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45720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METRICS TRACKED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8463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900" b="0">
                <a:solidFill>
                  <a:srgbClr val="555555"/>
                </a:solidFill>
                <a:latin typeface="Gmarket Sans"/>
              </a:rPr>
              <a:t>조회수 · 좋아요 · 댓글 수</a:t>
            </a:r>
          </a:p>
          <a:p>
            <a:pPr algn="l">
              <a:lnSpc>
                <a:spcPct val="155000"/>
              </a:lnSpc>
            </a:pPr>
            <a:r>
              <a:rPr sz="900" b="0">
                <a:solidFill>
                  <a:srgbClr val="555555"/>
                </a:solidFill>
                <a:latin typeface="Gmarket Sans"/>
              </a:rPr>
              <a:t>공유 수 · 체류시간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566160"/>
            <a:ext cx="3383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spc="-30">
                <a:solidFill>
                  <a:srgbClr val="262626"/>
                </a:solidFill>
                <a:latin typeface="Gmarket Sans"/>
              </a:rPr>
              <a:t>TBD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5720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AGGREGATED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84632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900" b="0">
                <a:solidFill>
                  <a:srgbClr val="555555"/>
                </a:solidFill>
                <a:latin typeface="Gmarket Sans"/>
              </a:rPr>
              <a:t>현재 집계 진행 중 · 채널별 수치 통합 후 합산.</a:t>
            </a:r>
          </a:p>
          <a:p>
            <a:pPr algn="l">
              <a:lnSpc>
                <a:spcPct val="155000"/>
              </a:lnSpc>
            </a:pPr>
            <a:r>
              <a:rPr sz="900" b="0">
                <a:solidFill>
                  <a:srgbClr val="555555"/>
                </a:solidFill>
                <a:latin typeface="Gmarket Sans"/>
              </a:rPr>
              <a:t>수치 부진 시 원인 분석 + 대책 별도 정리.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943600"/>
            <a:ext cx="11091672" cy="548640"/>
          </a:xfrm>
          <a:prstGeom prst="rect">
            <a:avLst/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605332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62626"/>
                </a:solidFill>
                <a:latin typeface="Gmarket Sans"/>
              </a:rPr>
              <a:t>성과는 단일 지표가 아닌 "콘텐츠 수 × 플랫폼 수 × 반응(좋아요·조회·공유·댓글)"의 총합으로 평가합니다.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글로벌경영학과  2022390786  안혜빈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53796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PERFORMANCE FRAMEWORK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12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 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CAFE SUZAK · 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005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DC143C"/>
                </a:solidFill>
                <a:latin typeface="Gmarket San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spc="-20">
                <a:solidFill>
                  <a:srgbClr val="262626"/>
                </a:solidFill>
                <a:latin typeface="Gmarket Sans"/>
              </a:rPr>
              <a:t>As-Is에서 </a:t>
            </a:r>
            <a:r>
              <a:rPr sz="3000" b="1" spc="-20">
                <a:solidFill>
                  <a:srgbClr val="DC143C"/>
                </a:solidFill>
                <a:latin typeface="Gmarket Sans"/>
              </a:rPr>
              <a:t>To-Be</a:t>
            </a:r>
            <a:r>
              <a:rPr sz="3000" b="1" spc="-20">
                <a:solidFill>
                  <a:srgbClr val="262626"/>
                </a:solidFill>
                <a:latin typeface="Gmarket Sans"/>
              </a:rPr>
              <a:t>로, 다음 단계.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17520"/>
            <a:ext cx="5394960" cy="3291840"/>
          </a:xfrm>
          <a:prstGeom prst="rect">
            <a:avLst/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AS-IS · 현재 위치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62626"/>
                </a:solidFill>
                <a:latin typeface="Gmarket Sans"/>
              </a:rPr>
              <a:t>콘텐츠 자산 6종 · 채널 4종 확보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069080"/>
            <a:ext cx="457200" cy="27432"/>
          </a:xfrm>
          <a:prstGeom prst="rect">
            <a:avLst/>
          </a:prstGeom>
          <a:solidFill>
            <a:srgbClr val="DC1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48463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9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· 인터랙티브 웹페이지 1종 배포 완료</a:t>
            </a:r>
          </a:p>
          <a:p>
            <a:pPr algn="l">
              <a:lnSpc>
                <a:spcPct val="19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· 블로그·릴스·에브리타임 채널 운영 시작</a:t>
            </a:r>
          </a:p>
          <a:p>
            <a:pPr algn="l">
              <a:lnSpc>
                <a:spcPct val="19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· AI 활용 콘텐츠 제작 워크플로 정립</a:t>
            </a:r>
          </a:p>
          <a:p>
            <a:pPr algn="l">
              <a:lnSpc>
                <a:spcPct val="19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· 성과 지표 정의 및 측정 시작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017520"/>
            <a:ext cx="5394960" cy="329184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32004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FAE7CB"/>
                </a:solidFill>
                <a:latin typeface="Gmarket Sans"/>
              </a:rPr>
              <a:t>TO-BE · 다음 단계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5204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Gmarket Sans"/>
              </a:rPr>
              <a:t>측정 기반 채널 최적화 + 자산 확장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0" y="4069080"/>
            <a:ext cx="457200" cy="27432"/>
          </a:xfrm>
          <a:prstGeom prst="rect">
            <a:avLst/>
          </a:prstGeom>
          <a:solidFill>
            <a:srgbClr val="DC1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4206240"/>
            <a:ext cx="48463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95000"/>
              </a:lnSpc>
            </a:pPr>
            <a:r>
              <a:rPr sz="1100" b="0">
                <a:solidFill>
                  <a:srgbClr val="FFFFFF"/>
                </a:solidFill>
                <a:latin typeface="Gmarket Sans"/>
              </a:rPr>
              <a:t>· 채널별 KPI 수치 집계 → 강한 채널 더블다운</a:t>
            </a:r>
          </a:p>
          <a:p>
            <a:pPr algn="l">
              <a:lnSpc>
                <a:spcPct val="195000"/>
              </a:lnSpc>
            </a:pPr>
            <a:r>
              <a:rPr sz="1100" b="0">
                <a:solidFill>
                  <a:srgbClr val="FFFFFF"/>
                </a:solidFill>
                <a:latin typeface="Gmarket Sans"/>
              </a:rPr>
              <a:t>· 부진 채널은 톤·키워드·포스팅 시간 개선</a:t>
            </a:r>
          </a:p>
          <a:p>
            <a:pPr algn="l">
              <a:lnSpc>
                <a:spcPct val="195000"/>
              </a:lnSpc>
            </a:pPr>
            <a:r>
              <a:rPr sz="1100" b="0">
                <a:solidFill>
                  <a:srgbClr val="FFFFFF"/>
                </a:solidFill>
                <a:latin typeface="Gmarket Sans"/>
              </a:rPr>
              <a:t>· 콘텐츠 자산 추가 제작 (릴스·블로그 시리즈)</a:t>
            </a:r>
          </a:p>
          <a:p>
            <a:pPr algn="l">
              <a:lnSpc>
                <a:spcPct val="195000"/>
              </a:lnSpc>
            </a:pPr>
            <a:r>
              <a:rPr sz="1100" b="0">
                <a:solidFill>
                  <a:srgbClr val="FFFFFF"/>
                </a:solidFill>
                <a:latin typeface="Gmarket Sans"/>
              </a:rPr>
              <a:t>· 카페 본 계정으로 콘텐츠 이관 / 위탁 운영 검토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글로벌경영학과  2022390786  안혜빈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53796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NEXT STEP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E7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548640" cy="45720"/>
          </a:xfrm>
          <a:prstGeom prst="rect">
            <a:avLst/>
          </a:prstGeom>
          <a:solidFill>
            <a:srgbClr val="DC1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400">
                <a:solidFill>
                  <a:srgbClr val="262626"/>
                </a:solidFill>
                <a:latin typeface="Gmarket Sans"/>
              </a:rPr>
              <a:t>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spc="-20">
                <a:solidFill>
                  <a:srgbClr val="262626"/>
                </a:solidFill>
                <a:latin typeface="Gmarket Sans"/>
              </a:rPr>
              <a:t>"좋은 커피를 만드는 만큼,
</a:t>
            </a:r>
            <a:r>
              <a:rPr sz="4000" b="1" spc="-20">
                <a:solidFill>
                  <a:srgbClr val="DC143C"/>
                </a:solidFill>
                <a:latin typeface="Gmarket Sans"/>
              </a:rPr>
              <a:t>더 많은 사람이 알았으면 합니다</a:t>
            </a:r>
            <a:r>
              <a:rPr sz="4000" b="1" spc="-20">
                <a:solidFill>
                  <a:srgbClr val="262626"/>
                </a:solidFill>
                <a:latin typeface="Gmarket Sans"/>
              </a:rPr>
              <a:t>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555555"/>
                </a:solidFill>
                <a:latin typeface="Gmarket Sans"/>
              </a:rPr>
              <a:t>— 카페 수작 사장님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760720"/>
            <a:ext cx="10972800" cy="9144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62626"/>
                </a:solidFill>
                <a:latin typeface="Gmarket Sans"/>
              </a:rPr>
              <a:t>이 프로젝트는 수작의 '가치'를 고객에게 전달하는 과정입니다.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555555"/>
                </a:solidFill>
                <a:latin typeface="Gmarket Sans"/>
              </a:rPr>
              <a:t>Thank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2636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300">
                <a:solidFill>
                  <a:srgbClr val="999999"/>
                </a:solidFill>
                <a:latin typeface="Gmarket Sans"/>
              </a:rPr>
              <a:t>CAFE SUZAK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